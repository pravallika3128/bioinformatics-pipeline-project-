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304652-E9E4-4F3B-BF8B-7B7A837BED0B}" v="6" dt="2026-01-31T08:21:43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05CA5-8D3B-5B7A-8165-5D89C901DB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3200" dirty="0">
                <a:latin typeface="Britannic Bold" panose="020B0903060703020204" pitchFamily="34" charset="0"/>
              </a:rPr>
              <a:t>BIOINFORMATICS PIPELINE PROJECT</a:t>
            </a:r>
            <a:br>
              <a:rPr lang="en-IN" sz="3200" dirty="0">
                <a:latin typeface="Britannic Bold" panose="020B0903060703020204" pitchFamily="34" charset="0"/>
              </a:rPr>
            </a:br>
            <a:r>
              <a:rPr lang="en-IN" sz="3200" dirty="0">
                <a:latin typeface="Britannic Bold" panose="020B0903060703020204" pitchFamily="34" charset="0"/>
              </a:rPr>
              <a:t>(BIOPYTHON PROJECT)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57713-DD3B-046D-FEFC-351F889A43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  YERRA SAI PRAVALLIKA </a:t>
            </a:r>
          </a:p>
          <a:p>
            <a:r>
              <a:rPr lang="en-IN" dirty="0"/>
              <a:t>pravallikaqueen31@gmail.com</a:t>
            </a:r>
          </a:p>
        </p:txBody>
      </p:sp>
    </p:spTree>
    <p:extLst>
      <p:ext uri="{BB962C8B-B14F-4D97-AF65-F5344CB8AC3E}">
        <p14:creationId xmlns:p14="http://schemas.microsoft.com/office/powerpoint/2010/main" val="3948239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D574-9FA5-5571-FE3E-A1B7D8F17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Britannic Bold" panose="020B0903060703020204" pitchFamily="34" charset="0"/>
              </a:rPr>
              <a:t>BIOLOGICAL SEQUENCE SELECTION FOR RESEARCH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C795B-85D7-EEA5-B378-66966DC27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For this project I  have taken the protein sequence that is “MULTIFUNCTIONAL CONJUGATION PROTEIN TRAL” </a:t>
            </a:r>
          </a:p>
          <a:p>
            <a:r>
              <a:rPr lang="en-IN" dirty="0"/>
              <a:t>It is taken from the organism ESCHERICHIA COLI K-12 </a:t>
            </a:r>
          </a:p>
          <a:p>
            <a:r>
              <a:rPr lang="en-IN" dirty="0"/>
              <a:t> </a:t>
            </a:r>
            <a:r>
              <a:rPr lang="en-IN" dirty="0" err="1"/>
              <a:t>Acession</a:t>
            </a:r>
            <a:r>
              <a:rPr lang="en-IN" dirty="0"/>
              <a:t> number is  “P14565”</a:t>
            </a:r>
          </a:p>
          <a:p>
            <a:r>
              <a:rPr lang="en-IN" dirty="0"/>
              <a:t>Location of the sequence is TRAI1_ECOLI</a:t>
            </a:r>
          </a:p>
          <a:p>
            <a:r>
              <a:rPr lang="en-IN" dirty="0"/>
              <a:t>Length of sequence is 1756 aa </a:t>
            </a:r>
          </a:p>
          <a:p>
            <a:r>
              <a:rPr lang="en-IN" dirty="0"/>
              <a:t>Version of the sequence is “P14565.2”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6034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1DA64-7938-2E8D-C8FF-4E26C86E4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ritannic Bold" panose="020B0903060703020204" pitchFamily="34" charset="0"/>
              </a:rPr>
              <a:t>SEQUENCE QUALITY &amp; BASIC ANALYSIS 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4FB933-F40E-0DE6-584B-1B5B18F35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6352" y="2557463"/>
            <a:ext cx="623929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929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AE832-5995-49B7-02A9-4236852F1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ritannic Bold" panose="020B0903060703020204" pitchFamily="34" charset="0"/>
              </a:rPr>
              <a:t>OUT PUT ANALYSIS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F1AC5AC-7EDE-E093-4D00-3D1E0CDE85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4083" y="2557463"/>
            <a:ext cx="626383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645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AE7B6-AD94-6BB3-317A-F0E81DFFD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ritannic Bold" panose="020B0903060703020204" pitchFamily="34" charset="0"/>
              </a:rPr>
              <a:t>SEQUENCE FILTERING &amp; VALIDATION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758072-16DC-2559-7D47-AC87F818AF81}"/>
              </a:ext>
            </a:extLst>
          </p:cNvPr>
          <p:cNvSpPr txBox="1"/>
          <p:nvPr/>
        </p:nvSpPr>
        <p:spPr>
          <a:xfrm>
            <a:off x="3042285" y="2967335"/>
            <a:ext cx="61150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dirty="0"/>
              <a:t>I  preferred this sequence for blast .</a:t>
            </a:r>
          </a:p>
          <a:p>
            <a:pPr marL="0" indent="0">
              <a:buNone/>
            </a:pPr>
            <a:r>
              <a:rPr lang="en-IN" sz="2400" dirty="0"/>
              <a:t>Because this sequences length and code quality both are good.</a:t>
            </a:r>
          </a:p>
          <a:p>
            <a:pPr marL="0" indent="0">
              <a:buNone/>
            </a:pPr>
            <a:r>
              <a:rPr lang="en-IN" sz="2400" dirty="0"/>
              <a:t>This sequence is suitable for further steps to me.</a:t>
            </a:r>
          </a:p>
        </p:txBody>
      </p:sp>
    </p:spTree>
    <p:extLst>
      <p:ext uri="{BB962C8B-B14F-4D97-AF65-F5344CB8AC3E}">
        <p14:creationId xmlns:p14="http://schemas.microsoft.com/office/powerpoint/2010/main" val="2360202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611A5-8ECD-E361-C8FD-40FD14079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ritannic Bold" panose="020B0903060703020204" pitchFamily="34" charset="0"/>
              </a:rPr>
              <a:t>HOMOLOGY SEARCH</a:t>
            </a:r>
            <a:endParaRPr lang="en-IN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BD4FCD-95CF-12C9-5005-EE9F0E75D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                                          xml format               project .</a:t>
            </a:r>
            <a:r>
              <a:rPr lang="en-IN" dirty="0" err="1"/>
              <a:t>py</a:t>
            </a:r>
            <a:r>
              <a:rPr lang="en-IN" dirty="0"/>
              <a:t> file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CA4881FC-C8EF-16E9-51CA-5C5A11CA5E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505433"/>
              </p:ext>
            </p:extLst>
          </p:nvPr>
        </p:nvGraphicFramePr>
        <p:xfrm>
          <a:off x="6698250" y="2733367"/>
          <a:ext cx="1110635" cy="904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967563" imgH="517956" progId="Package">
                  <p:embed/>
                </p:oleObj>
              </mc:Choice>
              <mc:Fallback>
                <p:oleObj name="Packager Shell Object" showAsIcon="1" r:id="rId2" imgW="967563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98250" y="2733367"/>
                        <a:ext cx="1110635" cy="9045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16F6D1EF-FE9C-DDD7-93AC-CD397535AC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7328" y="2453647"/>
            <a:ext cx="4334480" cy="3858163"/>
          </a:xfrm>
          <a:prstGeom prst="rect">
            <a:avLst/>
          </a:prstGeom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A65FDAB7-B154-5E87-D600-9CFF680924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259838"/>
              </p:ext>
            </p:extLst>
          </p:nvPr>
        </p:nvGraphicFramePr>
        <p:xfrm>
          <a:off x="9604837" y="3039294"/>
          <a:ext cx="6318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5" imgW="632425" imgH="517956" progId="Package">
                  <p:embed/>
                </p:oleObj>
              </mc:Choice>
              <mc:Fallback>
                <p:oleObj name="Packager Shell Object" showAsIcon="1" r:id="rId5" imgW="632425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604837" y="3039294"/>
                        <a:ext cx="63182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7429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6958-D729-BE29-766F-99B1A013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ritannic Bold" panose="020B0903060703020204" pitchFamily="34" charset="0"/>
              </a:rPr>
              <a:t>HOMOLOGY SEARCH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91C79-7CDD-4D42-6613-E72F412D5C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There is no significant and similar sequence was found for that sequence in blast.</a:t>
            </a:r>
          </a:p>
          <a:p>
            <a:r>
              <a:rPr lang="en-IN" dirty="0"/>
              <a:t>There is zero alignments are found .</a:t>
            </a:r>
          </a:p>
          <a:p>
            <a:r>
              <a:rPr lang="en-IN" dirty="0"/>
              <a:t>Hence homology based functions are prediction is not possible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D76B556-09BA-50E5-9968-20A3CFCB80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1725" y="2961146"/>
            <a:ext cx="4718050" cy="250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186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DD097-1406-453E-D0F1-3566D1FAD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ritannic Bold" panose="020B0903060703020204" pitchFamily="34" charset="0"/>
              </a:rPr>
              <a:t>BIOLOGICAL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A1252-B946-68AB-7A62-66DCCDE4D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arenR"/>
            </a:pPr>
            <a:r>
              <a:rPr lang="en-IN" dirty="0"/>
              <a:t> What does the sequence likely do?</a:t>
            </a:r>
          </a:p>
          <a:p>
            <a:pPr marL="0" indent="0">
              <a:buNone/>
            </a:pPr>
            <a:r>
              <a:rPr lang="en-IN" dirty="0"/>
              <a:t>   It acts as a </a:t>
            </a:r>
            <a:r>
              <a:rPr lang="en-IN" dirty="0" err="1"/>
              <a:t>relaxase</a:t>
            </a:r>
            <a:r>
              <a:rPr lang="en-IN" dirty="0"/>
              <a:t>-nuclease, nicking DNA at the </a:t>
            </a:r>
            <a:r>
              <a:rPr lang="en-IN" dirty="0" err="1"/>
              <a:t>oriT</a:t>
            </a:r>
            <a:r>
              <a:rPr lang="en-IN" dirty="0"/>
              <a:t> site to initiate plasmid transfer, and as a helicase unwinding DNA for conjugation. This enables horizontal gene transfer of F-plasmid, crucial for bacterial antibiotic resistance spread. Biochemical assays confirm its ATPase-driven helicase activity and site-specific cleavage, while </a:t>
            </a:r>
            <a:r>
              <a:rPr lang="en-IN" dirty="0" err="1"/>
              <a:t>traI</a:t>
            </a:r>
            <a:r>
              <a:rPr lang="en-IN" dirty="0"/>
              <a:t> mutants abolish conjugation. Structural studies (e.g., AlphaFold, PDB entries) and genetic complementation support these dual roles. </a:t>
            </a:r>
          </a:p>
        </p:txBody>
      </p:sp>
    </p:spTree>
    <p:extLst>
      <p:ext uri="{BB962C8B-B14F-4D97-AF65-F5344CB8AC3E}">
        <p14:creationId xmlns:p14="http://schemas.microsoft.com/office/powerpoint/2010/main" val="1163122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3E08F87-5D27-297A-A8C5-8152DDE5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ritannic Bold" panose="020B0903060703020204" pitchFamily="34" charset="0"/>
              </a:rPr>
              <a:t>BIOLOGICAL INTERPRETAION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E6428-8001-D37F-56C9-3B04EDB1E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 why do they think so ?</a:t>
            </a:r>
          </a:p>
          <a:p>
            <a:pPr marL="0" indent="0">
              <a:buNone/>
            </a:pPr>
            <a:r>
              <a:rPr lang="en-IN" dirty="0"/>
              <a:t> In vitro assays show </a:t>
            </a:r>
            <a:r>
              <a:rPr lang="en-IN" dirty="0" err="1"/>
              <a:t>TraI</a:t>
            </a:r>
            <a:r>
              <a:rPr lang="en-IN" dirty="0"/>
              <a:t> nicks </a:t>
            </a:r>
            <a:r>
              <a:rPr lang="en-IN" dirty="0" err="1"/>
              <a:t>oriT</a:t>
            </a:r>
            <a:r>
              <a:rPr lang="en-IN" dirty="0"/>
              <a:t> DNA covalently (</a:t>
            </a:r>
            <a:r>
              <a:rPr lang="en-IN" dirty="0" err="1"/>
              <a:t>relaxase</a:t>
            </a:r>
            <a:r>
              <a:rPr lang="en-IN" dirty="0"/>
              <a:t> activity) and unwinds dsDNA via ATPase-dependent helicase function, matching conjugation needs. ssDNA binding affinity (</a:t>
            </a:r>
            <a:r>
              <a:rPr lang="en-IN" dirty="0" err="1"/>
              <a:t>nM</a:t>
            </a:r>
            <a:r>
              <a:rPr lang="en-IN" dirty="0"/>
              <a:t> range) and </a:t>
            </a:r>
            <a:r>
              <a:rPr lang="en-IN" dirty="0" err="1"/>
              <a:t>oriT</a:t>
            </a:r>
            <a:r>
              <a:rPr lang="en-IN" dirty="0"/>
              <a:t>-specific cleavage confirm its plasmid transfer role. </a:t>
            </a:r>
          </a:p>
          <a:p>
            <a:pPr marL="0" indent="0">
              <a:buNone/>
            </a:pPr>
            <a:r>
              <a:rPr lang="en-US" dirty="0"/>
              <a:t>What evidence supports their claim?</a:t>
            </a:r>
          </a:p>
          <a:p>
            <a:pPr marL="0" indent="0">
              <a:buNone/>
            </a:pPr>
            <a:r>
              <a:rPr lang="en-IN" dirty="0"/>
              <a:t>Purified </a:t>
            </a:r>
            <a:r>
              <a:rPr lang="en-IN" dirty="0" err="1"/>
              <a:t>TraI</a:t>
            </a:r>
            <a:r>
              <a:rPr lang="en-IN" dirty="0"/>
              <a:t> demonstrates site-specific nicking at </a:t>
            </a:r>
            <a:r>
              <a:rPr lang="en-IN" dirty="0" err="1"/>
              <a:t>oriT</a:t>
            </a:r>
            <a:r>
              <a:rPr lang="en-IN" dirty="0"/>
              <a:t> (</a:t>
            </a:r>
            <a:r>
              <a:rPr lang="en-IN" dirty="0" err="1"/>
              <a:t>relaxase</a:t>
            </a:r>
            <a:r>
              <a:rPr lang="en-IN" dirty="0"/>
              <a:t> activity) with covalent 5'-phosphotyrosine linkage to ssDNA, plus ATPase-driven helicase unwinding at ~1,100 bp/s in vitro. </a:t>
            </a:r>
            <a:r>
              <a:rPr lang="en-IN" dirty="0" err="1"/>
              <a:t>TraY</a:t>
            </a:r>
            <a:r>
              <a:rPr lang="en-IN" dirty="0"/>
              <a:t> and IHF stimulate </a:t>
            </a:r>
            <a:r>
              <a:rPr lang="en-IN" dirty="0" err="1"/>
              <a:t>relaxosome</a:t>
            </a:r>
            <a:r>
              <a:rPr lang="en-IN" dirty="0"/>
              <a:t> formation and nicking, confirming conjugation-specific roles. 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1890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A958-30DB-65A8-7C20-4E2DB6F8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ritannic Bold" panose="020B0903060703020204" pitchFamily="34" charset="0"/>
              </a:rPr>
              <a:t>FINAL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D23F7-757A-FE32-B266-A0BFFFF77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By the end of the Project I want to conclude that,</a:t>
            </a:r>
          </a:p>
          <a:p>
            <a:pPr marL="0" indent="0">
              <a:buNone/>
            </a:pPr>
            <a:r>
              <a:rPr lang="en-US" dirty="0"/>
              <a:t>  “I analyzed an unknown biological sequence, validated its quality, identified</a:t>
            </a:r>
          </a:p>
          <a:p>
            <a:pPr marL="0" indent="0">
              <a:buNone/>
            </a:pPr>
            <a:r>
              <a:rPr lang="en-US" dirty="0"/>
              <a:t>    homologous sequences but for my sequence there is no homology sequences, and predicted its biological function using computational methods.”</a:t>
            </a:r>
          </a:p>
        </p:txBody>
      </p:sp>
    </p:spTree>
    <p:extLst>
      <p:ext uri="{BB962C8B-B14F-4D97-AF65-F5344CB8AC3E}">
        <p14:creationId xmlns:p14="http://schemas.microsoft.com/office/powerpoint/2010/main" val="2067483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7E0D82-B1F3-4F63-355C-F4ECFAD344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4099112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127</TotalTime>
  <Words>406</Words>
  <Application>Microsoft Office PowerPoint</Application>
  <PresentationFormat>Widescreen</PresentationFormat>
  <Paragraphs>39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Britannic Bold</vt:lpstr>
      <vt:lpstr>Garamond</vt:lpstr>
      <vt:lpstr>Organic</vt:lpstr>
      <vt:lpstr>Packager Shell Object</vt:lpstr>
      <vt:lpstr>BIOINFORMATICS PIPELINE PROJECT (BIOPYTHON PROJECT)</vt:lpstr>
      <vt:lpstr>BIOLOGICAL SEQUENCE SELECTION FOR RESEARCH</vt:lpstr>
      <vt:lpstr>SEQUENCE QUALITY &amp; BASIC ANALYSIS </vt:lpstr>
      <vt:lpstr>OUT PUT ANALYSIS</vt:lpstr>
      <vt:lpstr>SEQUENCE FILTERING &amp; VALIDATION </vt:lpstr>
      <vt:lpstr>HOMOLOGY SEARCH</vt:lpstr>
      <vt:lpstr>HOMOLOGY SEARCH</vt:lpstr>
      <vt:lpstr>BIOLOGICAL INTERPRETATION</vt:lpstr>
      <vt:lpstr>BIOLOGICAL INTERPRETAION</vt:lpstr>
      <vt:lpstr>FINAL OUTPUT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pravallika yerra</dc:creator>
  <cp:lastModifiedBy>pravallika yerra</cp:lastModifiedBy>
  <cp:revision>5</cp:revision>
  <dcterms:created xsi:type="dcterms:W3CDTF">2026-01-30T16:29:39Z</dcterms:created>
  <dcterms:modified xsi:type="dcterms:W3CDTF">2026-01-31T10:35:58Z</dcterms:modified>
</cp:coreProperties>
</file>